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40080"/>
            <a:ext cx="11274552" cy="55778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4552" cy="64008"/>
          </a:xfrm>
          <a:prstGeom prst="rect">
            <a:avLst/>
          </a:prstGeom>
          <a:solidFill>
            <a:srgbClr val="4D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8AA8B8"/>
                </a:solidFill>
              </a:defRPr>
            </a:pPr>
            <a:r>
              <a:t>felix-lab-maker  /  Jjj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3800" b="1">
                <a:solidFill>
                  <a:srgbClr val="FFFFFF"/>
                </a:solidFill>
              </a:defRPr>
            </a:pPr>
            <a:r>
              <a:t>Angelspiel</a:t>
            </a:r>
            <a:br/>
            <a:r>
              <a:t>&amp; Math Ascend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2EE5A8"/>
                </a:solidFill>
              </a:defRPr>
            </a:pPr>
            <a:r>
              <a:t>Offline-Spiele mit GitHub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8AA8B8"/>
                </a:solidFill>
              </a:defRPr>
            </a:pPr>
            <a:r>
              <a:t>Zwei Prototypen – eine Vision: Spielen ohne Tracking, ohne Käufe, ohne Server. Direkt im Browser oder als Android-APK. Automatisiert gebaut mit GitHub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63040"/>
            <a:ext cx="1051560" cy="105156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2200" b="1">
                <a:solidFill>
                  <a:srgbClr val="2EE5A8"/>
                </a:solidFill>
              </a:defRPr>
            </a:pPr>
            <a:r>
              <a:t>6</a:t>
            </a:r>
          </a:p>
          <a:p>
            <a:pPr algn="ctr">
              <a:defRPr sz="800">
                <a:solidFill>
                  <a:srgbClr val="8AA8B8"/>
                </a:solidFill>
              </a:defRPr>
            </a:pPr>
            <a:r>
              <a:t>Reviere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463040"/>
            <a:ext cx="1051560" cy="105156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2200" b="1">
                <a:solidFill>
                  <a:srgbClr val="4DE0FF"/>
                </a:solidFill>
              </a:defRPr>
            </a:pPr>
            <a:r>
              <a:t>25</a:t>
            </a:r>
          </a:p>
          <a:p>
            <a:pPr algn="ctr">
              <a:defRPr sz="800">
                <a:solidFill>
                  <a:srgbClr val="8AA8B8"/>
                </a:solidFill>
              </a:defRPr>
            </a:pPr>
            <a:r>
              <a:t>Fischarten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1463040"/>
            <a:ext cx="1051560" cy="105156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2200" b="1">
                <a:solidFill>
                  <a:srgbClr val="FFB84D"/>
                </a:solidFill>
              </a:defRPr>
            </a:pPr>
            <a:r>
              <a:t>6</a:t>
            </a:r>
          </a:p>
          <a:p>
            <a:pPr algn="ctr">
              <a:defRPr sz="800">
                <a:solidFill>
                  <a:srgbClr val="8AA8B8"/>
                </a:solidFill>
              </a:defRPr>
            </a:pPr>
            <a:r>
              <a:t>Welten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2194560" cy="502920"/>
          </a:xfrm>
          <a:prstGeom prst="roundRect">
            <a:avLst>
              <a:gd name="adj" fmla="val 30000"/>
            </a:avLst>
          </a:prstGeom>
          <a:solidFill>
            <a:srgbClr val="4DE0FF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05131C"/>
                </a:solidFill>
              </a:defRPr>
            </a:pPr>
            <a:r>
              <a:t>🎣  Jetzt angeln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206240"/>
            <a:ext cx="2194560" cy="502920"/>
          </a:xfrm>
          <a:prstGeom prst="roundRect">
            <a:avLst>
              <a:gd name="adj" fmla="val 3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0">
                <a:solidFill>
                  <a:srgbClr val="EEF6FF"/>
                </a:solidFill>
              </a:defRPr>
            </a:pPr>
            <a:r>
              <a:t>▶  Live-Demo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10515600" cy="594360"/>
          </a:xfrm>
          <a:prstGeom prst="roundRect">
            <a:avLst>
              <a:gd name="adj" fmla="val 20000"/>
            </a:avLst>
          </a:prstGeom>
          <a:solidFill>
            <a:srgbClr val="0B23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⚙  Android 6+  •  WebView  • 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🔒  Kein Tracking  •  Keine Käufe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🤖  GitHub Actions  • 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29. Okt 2026</a:t>
            </a:r>
          </a:p>
        </p:txBody>
      </p:sp>
    </p:spTree>
  </p:cSld>
  <p:transition spd="fast" advOnClk="1" advTm="0">
    <p:fade thruBlk="1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Click" delay="indefinite"/>
                      </p:stCondLst>
                      <p:childTnLst>
                        <p:par>
                          <p:cTn id="4" presetClass="entr" presetId="1" presetSubtype="0" fill="hold" nodeType="clickEffect">
                            <p:childTnLst>
                              <p:set>
                                <p:cBhvr>
                                  <p:cTn id="100" dur="1" fill="hold">
                                    <p:tgtEl>
                                      <p:spTgt spid="11"/>
                                    </p:tgtEl>
                                  </p:cTn>
                                  <p:attrNameLst>
                                    <p:attrName val="style.visibility"/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presetClass="entr" presetId="1" presetSubtype="0" fill="hold" nodeType="withEffect">
                            <p:childTnLst>
                              <p:set>
                                <p:cBhvr>
                                  <p:cTn id="101" dur="1" fill="hold">
                                    <p:tgtEl>
                                      <p:spTgt spid="12"/>
                                    </p:tgtEl>
                                  </p:cTn>
                                  <p:attrNameLst>
                                    <p:attrName val="style.visibility"/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Class="entr" presetId="1" presetSubtype="0" fill="hold" nodeType="withEffect">
                            <p:childTnLst>
                              <p:set>
                                <p:cBhvr>
                                  <p:cTn id="102" dur="1" fill="hold">
                                    <p:tgtEl>
                                      <p:spTgt spid="2"/>
                                    </p:tgtEl>
                                  </p:cTn>
                                  <p:attrNameLst>
                                    <p:attrName val="style.visibility"/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AGENDA  •  12 MINUTEN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Was euch heute erwartet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657600" cy="18288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</a:defRPr>
            </a:pPr>
            <a:r>
              <a:t>Vision &amp; Warum offline?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0">
                <a:solidFill>
                  <a:srgbClr val="8AA8B8"/>
                </a:solidFill>
              </a:defRPr>
            </a:pPr>
            <a:r>
              <a:t>Kein Tracking, faire Progression, sofort spielbar.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657600" cy="18288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240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FFB84D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</a:defRPr>
            </a:pPr>
            <a:r>
              <a:t>Math Ascend – das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0">
                <a:solidFill>
                  <a:srgbClr val="8AA8B8"/>
                </a:solidFill>
              </a:defRPr>
            </a:pPr>
            <a:r>
              <a:t>6 Welten, Mathe-Missionen, schon entpackt &amp; ready.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657600" cy="18288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2240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2EE5A8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</a:defRPr>
            </a:pPr>
            <a:r>
              <a:t>Angelspiel – das neue Highlight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0">
                <a:solidFill>
                  <a:srgbClr val="8AA8B8"/>
                </a:solidFill>
              </a:defRPr>
            </a:pPr>
            <a:r>
              <a:t>6 Reviere, 25 Fische, Drill-Mini-Spiel. Dein neuer Liebling.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3657600" cy="18288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FF7EB6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</a:defRPr>
            </a:pPr>
            <a:r>
              <a:t>So funktioniert der Drill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00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0">
                <a:solidFill>
                  <a:srgbClr val="8AA8B8"/>
                </a:solidFill>
              </a:defRPr>
            </a:pPr>
            <a:r>
              <a:t>Casting → Biss → Kampf. 30 Sekunden Adrenalin.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206240"/>
            <a:ext cx="3657600" cy="18288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17720" y="44348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</a:defRPr>
            </a:pPr>
            <a:r>
              <a:t>Unter der Haube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800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0">
                <a:solidFill>
                  <a:srgbClr val="8AA8B8"/>
                </a:solidFill>
              </a:defRPr>
            </a:pPr>
            <a:r>
              <a:t>WebView-Hülle, HTML/CSS/JS, build-apk.sh ohne Gradle.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206240"/>
            <a:ext cx="3657600" cy="18288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58200" y="44348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2EE5A8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</a:defRPr>
            </a:pPr>
            <a:r>
              <a:t>GitHub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800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0">
                <a:solidFill>
                  <a:srgbClr val="8AA8B8"/>
                </a:solidFill>
              </a:defRPr>
            </a:pPr>
            <a:r>
              <a:t>Actions bauen APKs, Pages hosten – volle Automation.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217920"/>
            <a:ext cx="11064240" cy="45720"/>
          </a:xfrm>
          <a:prstGeom prst="roundRect">
            <a:avLst/>
          </a:prstGeom>
          <a:solidFill>
            <a:srgbClr val="20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OnClk="1" advTm="0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PROBLEM → LÖSUNG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VISION  •  WARUM OFFLINE?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Spielen soll einfach &amp; fair sein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5486400" cy="402336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1000" b="0">
                <a:solidFill>
                  <a:srgbClr val="8AA8B8"/>
                </a:solidFill>
              </a:defRPr>
            </a:pPr>
            <a:r>
              <a:t>😵  Status quo vieler Apps</a:t>
            </a:r>
            <a:br/>
            <a:r>
              <a:t>• Accounts &amp; Tracking</a:t>
            </a:r>
            <a:br/>
            <a:r>
              <a:t>• Pay-to-Win &amp; Lootboxen</a:t>
            </a:r>
            <a:br/>
            <a:r>
              <a:t>• Immer online, Werbung</a:t>
            </a:r>
            <a:br/>
            <a:r>
              <a:t>• Kinderdaten →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7EB6"/>
                </a:solidFill>
              </a:defRPr>
            </a:pPr>
            <a:r>
              <a:t>❌  Das nervt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8AA8B8"/>
                </a:solidFill>
              </a:defRPr>
            </a:pPr>
            <a:r>
              <a:t>• Zwang zur Registrierung</a:t>
            </a:r>
            <a:br/>
            <a:r>
              <a:t>• Ständiges Tracking</a:t>
            </a:r>
            <a:br/>
            <a:r>
              <a:t>• Pay-to-Win, Werbung, Serverzwang</a:t>
            </a:r>
            <a:br/>
            <a:r>
              <a:t>• Keine Kontrolle über Daten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640080" cy="640080"/>
          </a:xfrm>
          <a:prstGeom prst="roundRect">
            <a:avLst>
              <a:gd name="adj" fmla="val 35000"/>
            </a:avLst>
          </a:prstGeom>
          <a:solidFill>
            <a:srgbClr val="4DE0FF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800" b="1">
                <a:solidFill>
                  <a:srgbClr val="06141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148840"/>
            <a:ext cx="4572000" cy="4023360"/>
          </a:xfrm>
          <a:prstGeom prst="roundRect">
            <a:avLst>
              <a:gd name="adj" fmla="val 25000"/>
            </a:avLst>
          </a:prstGeom>
          <a:solidFill>
            <a:srgbClr val="0E2A3A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331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EE5A8"/>
                </a:solidFill>
              </a:defRPr>
            </a:pPr>
            <a:r>
              <a:t>✅  Unsere Antwort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43200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EEF6FF"/>
                </a:solidFill>
              </a:defRPr>
            </a:pPr>
            <a:r>
              <a:t>• 100% offline, keine Accounts</a:t>
            </a:r>
            <a:br/>
            <a:r>
              <a:t>• Alle Münzen nur erspielt</a:t>
            </a:r>
            <a:br/>
            <a:r>
              <a:t>• Lokaler Speicher, löschbar</a:t>
            </a:r>
            <a:br/>
            <a:r>
              <a:t>• Sofort spielbar: Browser + APK</a:t>
            </a:r>
            <a:br/>
            <a:r>
              <a:t>• Fair: gleiche Regeln für alle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Ziel: Prototyp V1 • Sofort spielbar • Keine Cloud • Keine Käufe • GitHub-automatisiert</a:t>
            </a:r>
          </a:p>
        </p:txBody>
      </p:sp>
    </p:spTree>
  </p:cSld>
  <p:transition spd="med" advOnClk="1" advTm="0">
    <p:fade thruBlk="1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6 WELTEN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01  •  DAS FUNDAMENT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Math Ascend – das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8AA8B8"/>
                </a:solidFill>
              </a:defRPr>
            </a:pPr>
            <a:r>
              <a:t>Dunkles Mathe-Abenteuer. 6 Themenwelten von Kopfrechnen bis Hochschulmathematik. Schon bewährt – jetzt sauber ins Repo entpackt und build-fähig.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691640" cy="13716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7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A18A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Zahlenfunken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Grundrechnen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108960"/>
            <a:ext cx="1691640" cy="13716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4600" y="3246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7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A18A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Bruchlabor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Brüche &amp;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108960"/>
            <a:ext cx="1691640" cy="13716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3246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7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A18A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Unbekannte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Gleichungen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691640" cy="13716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7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A18A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Kurvenraum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2355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Funktionen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4754880"/>
            <a:ext cx="1691640" cy="13716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14600" y="4892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7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A18AFF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349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Unendlichkeit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62355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4754880"/>
            <a:ext cx="1691640" cy="137160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489204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7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A18AFF"/>
                </a:solidFill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349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Ereignishorizont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62355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Matrizen • DGL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2011680"/>
            <a:ext cx="4754880" cy="4389120"/>
          </a:xfrm>
          <a:prstGeom prst="roundRect">
            <a:avLst>
              <a:gd name="adj" fmla="val 30000"/>
            </a:avLst>
          </a:prstGeom>
          <a:solidFill>
            <a:srgbClr val="13192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86600" y="224028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272B4B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1">
                <a:solidFill>
                  <a:srgbClr val="4DE0FF"/>
                </a:solidFill>
              </a:defRPr>
            </a:pPr>
            <a:r>
              <a:t>MATH ASCEND · V1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OFFLINE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2743200"/>
            <a:ext cx="1325880" cy="640080"/>
          </a:xfrm>
          <a:prstGeom prst="roundRect">
            <a:avLst>
              <a:gd name="adj" fmla="val 15000"/>
            </a:avLst>
          </a:prstGeom>
          <a:solidFill>
            <a:srgbClr val="13182A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342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3375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Gesamt-XP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2743200"/>
            <a:ext cx="1325880" cy="640080"/>
          </a:xfrm>
          <a:prstGeom prst="roundRect">
            <a:avLst>
              <a:gd name="adj" fmla="val 15000"/>
            </a:avLst>
          </a:prstGeom>
          <a:solidFill>
            <a:srgbClr val="13182A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120 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3375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Energie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12680" y="2743200"/>
            <a:ext cx="1325880" cy="640080"/>
          </a:xfrm>
          <a:prstGeom prst="roundRect">
            <a:avLst>
              <a:gd name="adj" fmla="val 15000"/>
            </a:avLst>
          </a:prstGeom>
          <a:solidFill>
            <a:srgbClr val="13182A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33375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Rekord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86600" y="3611880"/>
            <a:ext cx="4297680" cy="1097280"/>
          </a:xfrm>
          <a:prstGeom prst="roundRect">
            <a:avLst>
              <a:gd name="adj" fmla="val 20000"/>
            </a:avLst>
          </a:prstGeom>
          <a:solidFill>
            <a:srgbClr val="202743"/>
          </a:solidFill>
          <a:ln w="15240">
            <a:solidFill>
              <a:srgbClr val="575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3703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1">
                <a:solidFill>
                  <a:srgbClr val="4DE0FF"/>
                </a:solidFill>
              </a:defRPr>
            </a:pPr>
            <a:r>
              <a:t>NÄCHSTE MISSION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Bruchlabor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8 Aufgaben · 3 Leben · ab 6 → weiter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544068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4DE0FF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900" b="1">
                <a:solidFill>
                  <a:srgbClr val="06141F"/>
                </a:solidFill>
              </a:defRPr>
            </a:pPr>
            <a:r>
              <a:t>Mission starten →</a:t>
            </a:r>
          </a:p>
        </p:txBody>
      </p:sp>
    </p:spTree>
  </p:cSld>
  <p:transition spd="fast" advOnClk="1" advTm="0">
    <p:wipe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🎣 6 REVIERE · 25 FISCHE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02  •  NEU  •  HIGHLIGHT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Angelspiel – dein neues Lieblingsrevier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8AA8B8"/>
                </a:solidFill>
              </a:defRPr>
            </a:pPr>
            <a:r>
              <a:t>Das gleiche bewährte Prinzip, neu gedacht: Werfen, warten, drillen. Mit 25 Fischarten, Seltenheitssystem und echtem Adrenalin-Moment beim Biss.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2331720" cy="15087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🐟  Dorfteich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Karpfen · Barsch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06324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2EE5A8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965960" cy="109728"/>
          </a:xfrm>
          <a:prstGeom prst="roundRect">
            <a:avLst/>
          </a:prstGeom>
          <a:solidFill>
            <a:srgbClr val="1A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965960" cy="109728"/>
          </a:xfrm>
          <a:prstGeom prst="roundRect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1">
                <a:solidFill>
                  <a:srgbClr val="2EE5A8"/>
                </a:solidFill>
              </a:defRPr>
            </a:pPr>
            <a:r>
              <a:t>🎣  Angeln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880360"/>
            <a:ext cx="2331720" cy="15087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🌲  Waldfluss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Forelle · Hecht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06324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4DE0FF"/>
                </a:solidFill>
              </a:defRPr>
            </a:pPr>
            <a: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931920"/>
            <a:ext cx="1965960" cy="109728"/>
          </a:xfrm>
          <a:prstGeom prst="roundRect">
            <a:avLst/>
          </a:prstGeom>
          <a:solidFill>
            <a:srgbClr val="1A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3931920"/>
            <a:ext cx="884682" cy="109728"/>
          </a:xfrm>
          <a:prstGeom prst="roundRect">
            <a:avLst/>
          </a:prstGeom>
          <a:solidFill>
            <a:srgbClr val="4D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1148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1">
                <a:solidFill>
                  <a:srgbClr val="4DE0FF"/>
                </a:solidFill>
              </a:defRPr>
            </a:pPr>
            <a:r>
              <a:t>🎣  Angeln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880360"/>
            <a:ext cx="2331720" cy="15087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🏔️  Bergsee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Saibling · Felchen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306324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FFB84D"/>
                </a:solidFill>
              </a:defRPr>
            </a:pPr>
            <a: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3931920"/>
            <a:ext cx="1965960" cy="109728"/>
          </a:xfrm>
          <a:prstGeom prst="roundRect">
            <a:avLst/>
          </a:prstGeom>
          <a:solidFill>
            <a:srgbClr val="1A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41148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1">
                <a:solidFill>
                  <a:srgbClr val="FFB84D"/>
                </a:solidFill>
              </a:defRPr>
            </a:pPr>
            <a:r>
              <a:t>🎣  Angeln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17720"/>
            <a:ext cx="2331720" cy="15087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🌊  Steilküste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Makrele · Barsch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480060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2EE5A8"/>
                </a:solidFill>
              </a:defRPr>
            </a:pPr>
            <a: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965960" cy="109728"/>
          </a:xfrm>
          <a:prstGeom prst="roundRect">
            <a:avLst/>
          </a:prstGeom>
          <a:solidFill>
            <a:srgbClr val="1A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1">
                <a:solidFill>
                  <a:srgbClr val="2EE5A8"/>
                </a:solidFill>
              </a:defRPr>
            </a:pPr>
            <a:r>
              <a:t>🎣  Angeln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4617720"/>
            <a:ext cx="2331720" cy="15087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⚡  Tiefsee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120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Thunfisch · Schwert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480060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FF7EB6"/>
                </a:solidFill>
              </a:defRPr>
            </a:pPr>
            <a: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5669280"/>
            <a:ext cx="1965960" cy="109728"/>
          </a:xfrm>
          <a:prstGeom prst="roundRect">
            <a:avLst/>
          </a:prstGeom>
          <a:solidFill>
            <a:srgbClr val="1A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852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1">
                <a:solidFill>
                  <a:srgbClr val="FF7EB6"/>
                </a:solidFill>
              </a:defRPr>
            </a:pPr>
            <a:r>
              <a:t>🎣  Angeln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4617720"/>
            <a:ext cx="2331720" cy="15087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👑  Legendenreich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120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Krake · Leviathan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9480" y="480060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FFB84D"/>
                </a:solidFill>
              </a:defRPr>
            </a:pPr>
            <a:r>
              <a:t>06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5669280"/>
            <a:ext cx="1965960" cy="109728"/>
          </a:xfrm>
          <a:prstGeom prst="roundRect">
            <a:avLst/>
          </a:prstGeom>
          <a:solidFill>
            <a:srgbClr val="1A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5852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🔒 Gesperrt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2011680"/>
            <a:ext cx="3017520" cy="470916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✨  RARITÄT &amp; PUNKTE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Seltene Fische = mehr Punkte &amp; Münzen. Gewicht variiert pro Fang.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78240" y="310896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8E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EF0C0"/>
                </a:solidFill>
              </a:defRPr>
            </a:pPr>
            <a:r>
              <a:t>HÄUFIG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FFFFFF"/>
                </a:solidFill>
              </a:defRPr>
            </a:pPr>
            <a:r>
              <a:t>100 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3337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Basis + Gewichtsbonus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3749039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2A2E4A"/>
          </a:solidFill>
          <a:ln w="15240">
            <a:solidFill>
              <a:srgbClr val="A8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A8B4FF"/>
                </a:solidFill>
              </a:defRPr>
            </a:pPr>
            <a:r>
              <a:t>SELTEN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7947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FFFFFF"/>
                </a:solidFill>
              </a:defRPr>
            </a:pPr>
            <a:r>
              <a:t>220 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397763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Basis + Gewichtsbonus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438912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3D2040"/>
          </a:solidFill>
          <a:ln w="15240">
            <a:solidFill>
              <a:srgbClr val="FF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FFB3FF"/>
                </a:solidFill>
              </a:defRPr>
            </a:pPr>
            <a:r>
              <a:t>EPISCH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FFFFFF"/>
                </a:solidFill>
              </a:defRPr>
            </a:pPr>
            <a:r>
              <a:t>380 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46177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Basis + Gewichtsbonus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78240" y="502920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321E0A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FFB84D"/>
                </a:solidFill>
              </a:defRPr>
            </a:pPr>
            <a:r>
              <a:t>LEGENDÄR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FFFFFF"/>
                </a:solidFill>
              </a:defRPr>
            </a:pPr>
            <a:r>
              <a:t>700 P+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5257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Basis + Gewichtsbonus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78240" y="6035040"/>
            <a:ext cx="2651760" cy="502920"/>
          </a:xfrm>
          <a:prstGeom prst="roundRect">
            <a:avLst>
              <a:gd name="adj" fmla="val 15000"/>
            </a:avLst>
          </a:prstGeom>
          <a:solidFill>
            <a:srgbClr val="122E2C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2EE5A8"/>
                </a:solidFill>
              </a:defRPr>
            </a:pPr>
            <a:r>
              <a:t>💡 Tipp: Perfekter Wurf ↑ Chance auf Seltene!</a:t>
            </a:r>
          </a:p>
        </p:txBody>
      </p:sp>
    </p:spTree>
  </p:cSld>
  <p:transition spd="med" advOnClk="1" advTm="0">
    <p:fade thruBlk="1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CAST · BITE ·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GAMEPLAY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3 Phasen → 1 Adrenalin-Moment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8AA8B8"/>
                </a:solidFill>
              </a:defRPr>
            </a:pPr>
            <a:r>
              <a:t>Jeder Wurf ist ein kleines Drama – in 30 Sekunden von ruhig zu "BISS!" zu "Gefangen?!"  •  Training ohne Druck, Mission mit 3 Leben.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57600" cy="329184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57400" y="2606040"/>
            <a:ext cx="640080" cy="640080"/>
          </a:xfrm>
          <a:prstGeom prst="ellipse">
            <a:avLst/>
          </a:prstGeom>
          <a:solidFill>
            <a:srgbClr val="4D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651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06141F"/>
                </a:solidFill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4DE0FF"/>
                </a:solidFill>
              </a:defRPr>
            </a:pPr>
            <a:r>
              <a:t>01  •  AUSWERFEN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Beobachte Kraft-Leiste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8AA8B8"/>
                </a:solidFill>
              </a:defRPr>
            </a:pPr>
            <a:r>
              <a:t>Tippe bei 66-90 %</a:t>
            </a:r>
            <a:br/>
            <a:r>
              <a:t>für weiten Wurf. Timing</a:t>
            </a:r>
            <a:br/>
            <a:r>
              <a:t>zählt, aber Training</a:t>
            </a:r>
            <a:br/>
            <a:r>
              <a:t>verzeiht.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212080"/>
            <a:ext cx="2743200" cy="164592"/>
          </a:xfrm>
          <a:prstGeom prst="roundRect">
            <a:avLst>
              <a:gd name="adj" fmla="val 10000"/>
            </a:avLst>
          </a:prstGeom>
          <a:solidFill>
            <a:srgbClr val="0B23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5212080"/>
            <a:ext cx="1828800" cy="164592"/>
          </a:xfrm>
          <a:prstGeom prst="roundRect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2EE5A8"/>
                </a:solidFill>
              </a:defRPr>
            </a:pPr>
            <a:r>
              <a:t>68% · perfekt!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468880"/>
            <a:ext cx="3657600" cy="329184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2606040"/>
            <a:ext cx="640080" cy="64008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651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06141F"/>
                </a:solidFill>
              </a:defRPr>
            </a:pPr>
            <a:r>
              <a:t>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B84D"/>
                </a:solidFill>
              </a:defRPr>
            </a:pPr>
            <a:r>
              <a:t>02  •  WARTEN &amp; BISS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703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Pose zuckt → BISS!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8AA8B8"/>
                </a:solidFill>
              </a:defRPr>
            </a:pPr>
            <a:r>
              <a:t>Reaktion in 0,9 s</a:t>
            </a:r>
            <a:br/>
            <a:r>
              <a:t>(1,4 s im Training).</a:t>
            </a:r>
            <a:br/>
            <a:r>
              <a:t>Zu spät = Fisch weg,</a:t>
            </a:r>
            <a:br/>
            <a:r>
              <a:t>Herz verloren.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5166360"/>
            <a:ext cx="1828800" cy="502920"/>
          </a:xfrm>
          <a:prstGeom prst="roundRect">
            <a:avLst>
              <a:gd name="adj" fmla="val 20000"/>
            </a:avLst>
          </a:prstGeom>
          <a:solidFill>
            <a:srgbClr val="FFB84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900" b="1">
                <a:solidFill>
                  <a:srgbClr val="06141F"/>
                </a:solidFill>
              </a:defRPr>
            </a:pPr>
            <a:r>
              <a:t>⚡ ANHAUEN! 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468880"/>
            <a:ext cx="3657600" cy="329184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2606040"/>
            <a:ext cx="640080" cy="640080"/>
          </a:xfrm>
          <a:prstGeom prst="ellipse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651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06141F"/>
                </a:solidFill>
              </a:defRPr>
            </a:pPr>
            <a:r>
              <a:t>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2EE5A8"/>
                </a:solidFill>
              </a:defRPr>
            </a:pPr>
            <a:r>
              <a:t>03  •  DRILL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703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Marker in grüner 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8AA8B8"/>
                </a:solidFill>
              </a:defRPr>
            </a:pPr>
            <a:r>
              <a:t>Tippe "Ziehen!" nur</a:t>
            </a:r>
            <a:br/>
            <a:r>
              <a:t>im grünen Bereich.</a:t>
            </a:r>
            <a:br/>
            <a:r>
              <a:t>3 Treffer = gefangen.</a:t>
            </a:r>
            <a:br/>
            <a:r>
              <a:t>Grüne Zone wird kleiner.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5166360"/>
            <a:ext cx="2743200" cy="320040"/>
          </a:xfrm>
          <a:prstGeom prst="roundRect">
            <a:avLst>
              <a:gd name="adj" fmla="val 15000"/>
            </a:avLst>
          </a:prstGeom>
          <a:solidFill>
            <a:srgbClr val="0A23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09760" y="5212080"/>
            <a:ext cx="731520" cy="228600"/>
          </a:xfrm>
          <a:prstGeom prst="roundRect">
            <a:avLst/>
          </a:prstGeom>
          <a:solidFill>
            <a:srgbClr val="2EE5A8">
              <a:lumMod val="90000"/>
            </a:srgbClr>
          </a:solidFill>
          <a:ln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5166360"/>
            <a:ext cx="731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5532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3 Treffer in grün = Gefangen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069080" y="3931920"/>
            <a:ext cx="411480" cy="274320"/>
          </a:xfrm>
          <a:prstGeom prst="rightArrow">
            <a:avLst/>
          </a:prstGeom>
          <a:solidFill>
            <a:srgbClr val="8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7955279" y="3931920"/>
            <a:ext cx="411480" cy="274320"/>
          </a:xfrm>
          <a:prstGeom prst="rightArrow">
            <a:avLst/>
          </a:prstGeom>
          <a:solidFill>
            <a:srgbClr val="8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OnClk="1" advTm="0">
    <p:push dir="l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XP · MÜNZEN · KOMBOS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PROGRESSION &amp; LEXIKON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Fortschritt, der motiviert – nicht frustriert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Mission vs. Training – klare Regeln.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2651760" cy="12801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EE5A8"/>
                </a:solidFill>
              </a:defRPr>
            </a:pPr>
            <a:r>
              <a:t>🎯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8 Würfe · 3 Leben</a:t>
            </a:r>
            <a:br/>
            <a:r>
              <a:t>Ab 6 Fängen → Revier frei</a:t>
            </a:r>
            <a:br/>
            <a:r>
              <a:t>XP + Münzen + Top-10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468880"/>
            <a:ext cx="2651760" cy="12801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4DE0FF"/>
                </a:solidFill>
              </a:defRPr>
            </a:pPr>
            <a:r>
              <a:t>🎮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Alle Reviere offen</a:t>
            </a:r>
            <a:br/>
            <a:r>
              <a:t>Ohne Leben &amp; Belohnung</a:t>
            </a:r>
            <a:br/>
            <a:r>
              <a:t>Perfekt zum Üben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486400" cy="1005840"/>
          </a:xfrm>
          <a:prstGeom prst="roundRect">
            <a:avLst>
              <a:gd name="adj" fmla="val 2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4DE0FF"/>
                </a:solidFill>
              </a:defRPr>
            </a:pPr>
            <a:r>
              <a:t>3420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XP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160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2EE5A8"/>
                </a:solidFill>
              </a:defRPr>
            </a:pPr>
            <a:r>
              <a:t>180 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805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Münzen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60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B84D"/>
                </a:solidFill>
              </a:defRPr>
            </a:pPr>
            <a:r>
              <a:t>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4805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Kombo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Kombo-Bonus: +18 P pro konsekutivem Fang (max 5×). Profi-Rute +15% Münzen. Alle Belohnungen nur erspielt.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011680"/>
            <a:ext cx="5212080" cy="3749039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▦  FISCHLEXIKON  •  14/25 entdeckt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Jeder Fang wird registriert. Seltene bleiben grau bis zum ersten Fang.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017520"/>
            <a:ext cx="2377440" cy="86868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154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FFFF"/>
                </a:solidFill>
              </a:defRPr>
            </a:pPr>
            <a:r>
              <a:t>Karpfen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1.2-4.0 kg • häufig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5661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2EE5A8"/>
                </a:solidFill>
              </a:defRPr>
            </a:pPr>
            <a:r>
              <a:t>✓ Gefangen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3017520"/>
            <a:ext cx="2377440" cy="86868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154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FFFF"/>
                </a:solidFill>
              </a:defRPr>
            </a:pPr>
            <a:r>
              <a:t>Hecht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2.5-7.0 kg • selten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5661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2EE5A8"/>
                </a:solidFill>
              </a:defRPr>
            </a:pPr>
            <a:r>
              <a:t>✓ Gefangen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069079"/>
            <a:ext cx="2377440" cy="86868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2062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206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AA8B8"/>
                </a:solidFill>
              </a:defRPr>
            </a:pPr>
            <a:r>
              <a:t>Krake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4348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15-40 kg • episch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6177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? Noch nicht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4069079"/>
            <a:ext cx="2377440" cy="86868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2062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420623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AA8B8"/>
                </a:solidFill>
              </a:defRPr>
            </a:pPr>
            <a:r>
              <a:t>Leviathan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4348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40-90 kg • legendär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6177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00" b="0">
                <a:solidFill>
                  <a:srgbClr val="8AA8B8"/>
                </a:solidFill>
              </a:defRPr>
            </a:pPr>
            <a:r>
              <a:t>? Noch nicht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989320"/>
            <a:ext cx="5212080" cy="640080"/>
          </a:xfrm>
          <a:prstGeom prst="roundRect">
            <a:avLst>
              <a:gd name="adj" fmla="val 15000"/>
            </a:avLst>
          </a:prstGeom>
          <a:solidFill>
            <a:srgbClr val="0B23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6080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FFFF"/>
                </a:solidFill>
              </a:defRPr>
            </a:pPr>
            <a:r>
              <a:t>🏆  Top 10 – lokal auf diesem Gerät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6309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1. Tiefsee 3420 P  •  2. Legendenreich 2980 P  •  3. Bergsee 2450 P</a:t>
            </a:r>
          </a:p>
        </p:txBody>
      </p:sp>
    </p:spTree>
  </p:cSld>
  <p:transition spd="med" advOnClk="1" advTm="0">
    <p:fade thruBlk="1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KEIN PAY-TO-WIN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SHOP &amp; FAIR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Shop – fair, nur erspielt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8AA8B8"/>
                </a:solidFill>
              </a:defRPr>
            </a:pPr>
            <a:r>
              <a:t>Alle Käufe nur mit erspielten Münzen. Keine echten Käufe, kein Vorteil im Drill. Nur Style &amp; kleine Hilfen.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Arktis-Blau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52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Standard, kühles Licht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67004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4DE0FF"/>
                </a:solidFill>
              </a:defRPr>
            </a:pPr>
            <a:r>
              <a:t>0 🪙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39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832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649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Sonnenuntergang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Warm wie Abendküste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401567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FFB84D"/>
                </a:solidFill>
              </a:defRPr>
            </a:pPr>
            <a:r>
              <a:t>120 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96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Algenwald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15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Grünes Tiefsee-Leuchten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13308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2EE5A8"/>
                </a:solidFill>
              </a:defRPr>
            </a:pPr>
            <a:r>
              <a:t>120 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54880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28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Echolot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474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Zeigt Biss-Vorwarnung im Training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486460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4DE0FF"/>
                </a:solidFill>
              </a:defRPr>
            </a:pPr>
            <a:r>
              <a:t>180 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0">
                <a:solidFill>
                  <a:srgbClr val="FFFFFF"/>
                </a:solidFill>
              </a:defRPr>
            </a:pPr>
            <a:r>
              <a:t>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59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Profi-Rute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79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 +15% Münzen, größere grüne Zone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559612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800" b="1">
                <a:solidFill>
                  <a:srgbClr val="2EE5A8"/>
                </a:solidFill>
              </a:defRPr>
            </a:pPr>
            <a:r>
              <a:t>260 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2560320"/>
            <a:ext cx="3931920" cy="320040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EE5A8"/>
                </a:solidFill>
              </a:defRPr>
            </a:pPr>
            <a:r>
              <a:t>🤝  Unser Versprechen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200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EEF6FF"/>
                </a:solidFill>
              </a:defRPr>
            </a:pPr>
            <a:r>
              <a:t>• Keine Lootboxen</a:t>
            </a:r>
            <a:br/>
            <a:r>
              <a:t>• Keine Diamanten kaufen</a:t>
            </a:r>
            <a:br/>
            <a:r>
              <a:t>• Alle haben gleiche Regeln</a:t>
            </a:r>
            <a:br/>
            <a:r>
              <a:t>• Missionen nicht kaufbar</a:t>
            </a:r>
            <a:br/>
            <a:r>
              <a:t>• Nur erspielte Münzen zählen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120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→ Faire Progression motiviert länger.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5989320"/>
            <a:ext cx="3931920" cy="502920"/>
          </a:xfrm>
          <a:prstGeom prst="roundRect">
            <a:avLst>
              <a:gd name="adj" fmla="val 15000"/>
            </a:avLst>
          </a:prstGeom>
          <a:solidFill>
            <a:srgbClr val="0C1E2A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Hinweis: Beim Löschen der App gehen lokale Daten verloren – kein Cloud-Backup in V1.</a:t>
            </a:r>
          </a:p>
        </p:txBody>
      </p:sp>
    </p:spTree>
  </p:cSld>
  <p:transition spd="med" advOnClk="1" advTm="0">
    <p:wipe dir="l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WEBVIEW + HTML/CSS/JS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ARCHITEKTUR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Unter der Haube – so simpel wie genial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657600" cy="201168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HTML/CSS/JS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60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EEF6FF"/>
                </a:solidFill>
              </a:defRPr>
            </a:pPr>
            <a:r>
              <a:t>Spiellogik, UI,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3108960" cy="365760"/>
          </a:xfrm>
          <a:prstGeom prst="roundRect">
            <a:avLst>
              <a:gd name="adj" fmla="val 1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localStorage['angelspiel-v1']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03120"/>
            <a:ext cx="3657600" cy="201168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EE5A8"/>
                </a:solidFill>
              </a:defRPr>
            </a:pPr>
            <a:r>
              <a:t>Android-Hülle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60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MainActivity.java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EEF6FF"/>
                </a:solidFill>
              </a:defRPr>
            </a:pPr>
            <a:r>
              <a:t>WebView, kein Internet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566160"/>
            <a:ext cx="3108960" cy="365760"/>
          </a:xfrm>
          <a:prstGeom prst="roundRect">
            <a:avLst>
              <a:gd name="adj" fmla="val 1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WebView + file:///android_asset/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103120"/>
            <a:ext cx="3657600" cy="201168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B84D"/>
                </a:solidFill>
              </a:defRPr>
            </a:pPr>
            <a: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build-apk.sh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EEF6FF"/>
                </a:solidFill>
              </a:defRPr>
            </a:pPr>
            <a:r>
              <a:t>aapt + javac + d8 + zipalign + apksigner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566160"/>
            <a:ext cx="3108960" cy="365760"/>
          </a:xfrm>
          <a:prstGeom prst="roundRect">
            <a:avLst>
              <a:gd name="adj" fmla="val 10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aapt → d8 → apksigner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69080" y="2926080"/>
            <a:ext cx="457200" cy="320040"/>
          </a:xfrm>
          <a:prstGeom prst="rightArrow">
            <a:avLst/>
          </a:prstGeom>
          <a:solidFill>
            <a:srgbClr val="20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955279" y="2926080"/>
            <a:ext cx="457200" cy="320040"/>
          </a:xfrm>
          <a:prstGeom prst="rightArrow">
            <a:avLst/>
          </a:prstGeom>
          <a:solidFill>
            <a:srgbClr val="20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FFFF"/>
                </a:solidFill>
              </a:defRPr>
            </a:pPr>
            <a:r>
              <a:t>Tech Stack &amp; Sicherheit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8AA8B8"/>
                </a:solidFill>
              </a:defRPr>
            </a:pPr>
            <a:r>
              <a:t>• Android 6+ (minSdk 23, target 29)</a:t>
            </a:r>
            <a:br/>
            <a:r>
              <a:t>• Keine Internet-Permission</a:t>
            </a:r>
            <a:br/>
            <a:r>
              <a:t>• Material NoActionBar Theme</a:t>
            </a:r>
            <a:br/>
            <a:r>
              <a:t>• Lokaler Dev-Key (.build/development.jks)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029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8AA8B8"/>
                </a:solidFill>
              </a:defRPr>
            </a:pPr>
            <a:r>
              <a:t>• Offline-First, kein Server</a:t>
            </a:r>
            <a:br/>
            <a:r>
              <a:t>• localStorage, kein Cloud-Sync</a:t>
            </a:r>
            <a:br/>
            <a:r>
              <a:t>• JS-Syntax geprüft, 6000+ Testwürfe</a:t>
            </a:r>
            <a:br/>
            <a:r>
              <a:t>• Signiert v1/v2/v3, zipalign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8AA8B8"/>
                </a:solidFill>
              </a:defRPr>
            </a:pPr>
            <a:r>
              <a:t>• Auch im Browser spielbar</a:t>
            </a:r>
            <a:br/>
            <a:r>
              <a:t>• Kein Gradle, nur Build-Tools</a:t>
            </a:r>
            <a:br/>
            <a:r>
              <a:t>• Reproduzierbarer Build</a:t>
            </a:r>
            <a:br/>
            <a:r>
              <a:t>• Open Source Prototyp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172200"/>
            <a:ext cx="11064240" cy="411480"/>
          </a:xfrm>
          <a:prstGeom prst="roundRect">
            <a:avLst>
              <a:gd name="adj" fmla="val 15000"/>
            </a:avLst>
          </a:prstGeom>
          <a:solidFill>
            <a:srgbClr val="0B23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&lt;manifest package="de.angelspiel.app"  •  android:allowBackup="false"  •  Keine &lt;uses-permission android:name="android.permission.INTERNET"/&gt;</a:t>
            </a:r>
          </a:p>
        </p:txBody>
      </p:sp>
    </p:spTree>
  </p:cSld>
  <p:transition spd="med" advOnClk="1" advTm="0">
    <p:push dir="l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PUSH → BUILD → ARTIFACT →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GitHub Actions – APKs auf Knopfdruck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697480" cy="17373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4DE0FF"/>
                </a:solidFill>
              </a:defRPr>
            </a:pPr>
            <a:r>
              <a:t>📤 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auf main / arena/*</a:t>
            </a:r>
            <a:br/>
            <a:r>
              <a:t>oder PR /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703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4DE0FF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200" b="1">
                <a:solidFill>
                  <a:srgbClr val="06141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194560"/>
            <a:ext cx="2697480" cy="17373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2EE5A8"/>
                </a:solidFill>
              </a:defRPr>
            </a:pPr>
            <a:r>
              <a:t>⚙️ 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JDK17 + SDK29 + BT30.0.3</a:t>
            </a:r>
            <a:br/>
            <a:r>
              <a:t>aapt → javac → d8 → 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703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EE5A8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200" b="1">
                <a:solidFill>
                  <a:srgbClr val="06141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2697480" cy="17373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B84D"/>
                </a:solidFill>
              </a:defRPr>
            </a:pPr>
            <a:r>
              <a:t>📦  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MathAscend.apk</a:t>
            </a:r>
            <a:br/>
            <a:r>
              <a:t>Angelspiel.apk</a:t>
            </a:r>
            <a:br/>
            <a:r>
              <a:t>als Download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3703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B84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200" b="1">
                <a:solidFill>
                  <a:srgbClr val="06141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94560"/>
            <a:ext cx="2697480" cy="17373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377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7EB6"/>
                </a:solidFill>
              </a:defRPr>
            </a:pPr>
            <a:r>
              <a:t>🚀 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788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bei Tag v*</a:t>
            </a:r>
            <a:br/>
            <a:r>
              <a:t>automatisch mit APKs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3703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7EB6"/>
          </a:solidFill>
          <a:ln w="15240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200" b="1">
                <a:solidFill>
                  <a:srgbClr val="06141F"/>
                </a:solidFill>
              </a:defRPr>
            </a:pPr>
            <a:r>
              <a:t>4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63240" y="2926080"/>
            <a:ext cx="411480" cy="274320"/>
          </a:xfrm>
          <a:prstGeom prst="rightArrow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5989320" y="2926080"/>
            <a:ext cx="411480" cy="274320"/>
          </a:xfrm>
          <a:prstGeom prst="rightArrow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915400" y="2926080"/>
            <a:ext cx="411480" cy="274320"/>
          </a:xfrm>
          <a:prstGeom prst="rightArrow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480560"/>
            <a:ext cx="11064240" cy="1645920"/>
          </a:xfrm>
          <a:prstGeom prst="roundRect">
            <a:avLst>
              <a:gd name="adj" fmla="val 20000"/>
            </a:avLst>
          </a:prstGeom>
          <a:solidFill>
            <a:srgbClr val="0E1C28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700" b="0">
                <a:solidFill>
                  <a:srgbClr val="8AA8B8"/>
                </a:solidFill>
              </a:defRPr>
            </a:pPr>
            <a:r>
              <a:t>name: Build APKs</a:t>
            </a:r>
            <a:br/>
            <a:r>
              <a:t>on: [push, pull_request, workflow_dispatch]</a:t>
            </a:r>
            <a:br/>
            <a:r>
              <a:t>jobs:</a:t>
            </a:r>
            <a:br/>
            <a:r>
              <a:t>  build: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actions/setup-java@v4  (temurin 17)</a:t>
            </a:r>
            <a:br/>
            <a:r>
              <a:t>      - uses: android-actions/setup-android@v3</a:t>
            </a:r>
            <a:br/>
            <a:r>
              <a:t>      - run: sdkmanager --install "platforms;android-29" "build-tools;30.0.3"</a:t>
            </a:r>
            <a:br/>
            <a:r>
              <a:t>      - run: ./Angelspiel/build-apk.sh  →  releases/Angelspiel.apk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309360"/>
            <a:ext cx="11064240" cy="41148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🔗  .github/workflows/build-apks.yml   •   Artifacts 1 Monat verfügbar   •   Release bei git tag v1.0 &amp;&amp; git push origin v1.0</a:t>
            </a:r>
          </a:p>
        </p:txBody>
      </p:sp>
    </p:spTree>
  </p:cSld>
  <p:transition spd="fast" advOnClk="1" advTm="0">
    <p:fade thruBlk="1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KEINE INSTALLATION NÖTIG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GitHub Pages – direkt im Browser testen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6858000" cy="411480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6858000" cy="411480"/>
          </a:xfrm>
          <a:prstGeom prst="round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🔒  felix-lab-maker.github.io/Jjj/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1762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↻  ✕  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JJJ SPIELE  •  OFFLINE ·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</a:defRPr>
            </a:pPr>
            <a:r>
              <a:t>Zwei Spiele. Direkt spielen.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Offline-Prototypen – keine Installation nötig. Im Browser oder als APK.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3017520" cy="109728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EE5A8"/>
                </a:solidFill>
              </a:defRPr>
            </a:pPr>
            <a:r>
              <a:t>🎣 Angelspiel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6 Reviere, 25 Fische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892040"/>
            <a:ext cx="1280160" cy="274320"/>
          </a:xfrm>
          <a:prstGeom prst="roundRect">
            <a:avLst>
              <a:gd name="adj" fmla="val 10000"/>
            </a:avLst>
          </a:prstGeom>
          <a:solidFill>
            <a:srgbClr val="2EE5A8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600" b="1">
                <a:solidFill>
                  <a:srgbClr val="06141F"/>
                </a:solidFill>
              </a:defRPr>
            </a:pPr>
            <a:r>
              <a:t>Jetzt spielen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206240"/>
            <a:ext cx="3017520" cy="109728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343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🧮 Math Ascend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17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6 Welten, Mathe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892040"/>
            <a:ext cx="1280160" cy="274320"/>
          </a:xfrm>
          <a:prstGeom prst="roundRect">
            <a:avLst>
              <a:gd name="adj" fmla="val 10000"/>
            </a:avLst>
          </a:prstGeom>
          <a:solidFill>
            <a:srgbClr val="4DE0FF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600" b="1">
                <a:solidFill>
                  <a:srgbClr val="06141F"/>
                </a:solidFill>
              </a:defRPr>
            </a:pPr>
            <a:r>
              <a:t>Jetzt spielen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103120"/>
            <a:ext cx="3931920" cy="411480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EE5A8"/>
                </a:solidFill>
              </a:defRPr>
            </a:pPr>
            <a:r>
              <a:t>⚙️  So aktivierst du 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51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EEF6FF"/>
                </a:solidFill>
              </a:defRPr>
            </a:pPr>
            <a:r>
              <a:t>1. Settings → Pages</a:t>
            </a:r>
            <a:br/>
            <a:r>
              <a:t>2. Source: Deploy from branch</a:t>
            </a:r>
            <a:br/>
            <a:r>
              <a:t>3. Branch: main  →  Folder: /docs</a:t>
            </a:r>
            <a:br/>
            <a:r>
              <a:t>4. Save → Link kopieren</a:t>
            </a:r>
            <a:br/>
            <a:br/>
            <a:r>
              <a:t>Bonus: docs/index.html ist</a:t>
            </a:r>
            <a:br/>
            <a:r>
              <a:t>deine Landing Page.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4DE0FF"/>
                </a:solidFill>
              </a:defRPr>
            </a:pPr>
            <a:r>
              <a:t>🔗  Lokaler Test: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937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Einfach Angelspiel/app/src/main/</a:t>
            </a:r>
            <a:br/>
            <a:r>
              <a:t>assets/index.html doppelklicken!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400800"/>
            <a:ext cx="11064240" cy="320040"/>
          </a:xfrm>
          <a:prstGeom prst="roundRect">
            <a:avLst>
              <a:gd name="adj" fmla="val 15000"/>
            </a:avLst>
          </a:prstGeom>
          <a:solidFill>
            <a:srgbClr val="112C3D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Auch als PWA möglich – später mit Service Worker für echten Offline-Cache.</a:t>
            </a:r>
          </a:p>
        </p:txBody>
      </p:sp>
    </p:spTree>
  </p:cSld>
  <p:transition spd="fast" advOnClk="1" advTm="0">
    <p:push dir="l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ANDROID 6+ • WEBVIEW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INSTALLATION &amp;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Installation in 30 Sekunden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103120" cy="164592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2331720"/>
            <a:ext cx="548640" cy="548640"/>
          </a:xfrm>
          <a:prstGeom prst="ellipse">
            <a:avLst/>
          </a:prstGeom>
          <a:solidFill>
            <a:srgbClr val="4D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41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4DE0FF"/>
                </a:solidFill>
              </a:defRPr>
            </a:pPr>
            <a:r>
              <a:t>📥  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APK aus Releases</a:t>
            </a:r>
            <a:br/>
            <a:r>
              <a:t>oder Actions Artifact</a:t>
            </a:r>
            <a:br/>
            <a:r>
              <a:t>laden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194560"/>
            <a:ext cx="2103120" cy="164592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331720"/>
            <a:ext cx="548640" cy="54864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41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B84D"/>
                </a:solidFill>
              </a:defRPr>
            </a:pPr>
            <a:r>
              <a:t>🔓  Erlauben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Installation aus</a:t>
            </a:r>
            <a:br/>
            <a:r>
              <a:t>unbekannter Quelle</a:t>
            </a:r>
            <a:br/>
            <a:r>
              <a:t>kurz erlauben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194560"/>
            <a:ext cx="2103120" cy="164592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97880" y="2331720"/>
            <a:ext cx="548640" cy="548640"/>
          </a:xfrm>
          <a:prstGeom prst="ellipse">
            <a:avLst/>
          </a:prstGeom>
          <a:solidFill>
            <a:srgbClr val="2E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41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2EE5A8"/>
                </a:solidFill>
              </a:defRPr>
            </a:pPr>
            <a:r>
              <a:t>🎣  Spielen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800" b="0">
                <a:solidFill>
                  <a:srgbClr val="8AA8B8"/>
                </a:solidFill>
              </a:defRPr>
            </a:pPr>
            <a:r>
              <a:t>App öffnen, angeln!</a:t>
            </a:r>
            <a:br/>
            <a:r>
              <a:t>Danach Berechtigung</a:t>
            </a:r>
            <a:br/>
            <a:r>
              <a:t>wieder deaktivieren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68880" y="2971800"/>
            <a:ext cx="365760" cy="228600"/>
          </a:xfrm>
          <a:prstGeom prst="rightArrow">
            <a:avLst/>
          </a:prstGeom>
          <a:solidFill>
            <a:srgbClr val="20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754880" y="2971800"/>
            <a:ext cx="365760" cy="228600"/>
          </a:xfrm>
          <a:prstGeom prst="rightArrow">
            <a:avLst/>
          </a:prstGeom>
          <a:solidFill>
            <a:srgbClr val="20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0" y="2194560"/>
            <a:ext cx="3931920" cy="292608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377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📱  Live-Demo QR (Platzhalter)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788920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2880360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15984" y="2880360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8048" y="2880360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59952" y="3136391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72016" y="3136391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3392424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5984" y="3392424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28048" y="3392424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59952" y="3648456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72016" y="3648456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3904487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15984" y="3904487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28048" y="3904487"/>
            <a:ext cx="219456" cy="219456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docs/index.html → Pages-Link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206240"/>
            <a:ext cx="6583680" cy="1463040"/>
          </a:xfrm>
          <a:prstGeom prst="roundRect">
            <a:avLst>
              <a:gd name="adj" fmla="val 15000"/>
            </a:avLst>
          </a:prstGeom>
          <a:solidFill>
            <a:srgbClr val="0C1C28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34340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4DE0FF"/>
                </a:solidFill>
              </a:defRPr>
            </a:pPr>
            <a:r>
              <a:t>💻  Lokal bauen – ohne Android Studio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61772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700" b="0">
                <a:solidFill>
                  <a:srgbClr val="8AA8B8"/>
                </a:solidFill>
              </a:defRPr>
            </a:pPr>
            <a:r>
              <a:t>export ANDROID_JAR="$ANDROID_HOME/platforms/android-29/android.jar"</a:t>
            </a:r>
            <a:br/>
            <a:r>
              <a:t>export BUILD_TOOLS="$ANDROID_HOME/build-tools/30.0.3"</a:t>
            </a:r>
            <a:br/>
            <a:r>
              <a:t>./Angelspiel/build-apk.sh   →   releases/Angelspiel.apk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5349240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122E2C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2EE5A8"/>
                </a:solidFill>
              </a:defRPr>
            </a:pPr>
            <a:r>
              <a:t>✓  APKs signiert v1/v2/v3  •  zipalign  •  verify --verbose</a:t>
            </a:r>
          </a:p>
        </p:txBody>
      </p:sp>
    </p:spTree>
  </p:cSld>
  <p:transition spd="med" advOnClk="1" advTm="0">
    <p:wipe dir="l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  SPIELE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</a:defRPr>
            </a:pPr>
            <a:r>
              <a:t>JJJ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DE0FF"/>
                </a:solidFill>
              </a:defRPr>
            </a:pPr>
            <a:r>
              <a:t>SPIELE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371600" cy="32004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0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8AA8B8"/>
                </a:solidFill>
              </a:defRPr>
            </a:pPr>
            <a:r>
              <a:t>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4DE0FF"/>
                </a:solidFill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defRPr sz="2600" b="1">
                <a:solidFill>
                  <a:srgbClr val="FFFFFF"/>
                </a:solidFill>
              </a:defRPr>
            </a:pPr>
            <a:r>
              <a:t>Was kommt als Nächstes?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394960" cy="420624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EE5A8"/>
                </a:solidFill>
              </a:defRPr>
            </a:pPr>
            <a:r>
              <a:t>✅  V1 – Prototyp (jetzt)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EEF6FF"/>
                </a:solidFill>
              </a:defRPr>
            </a:pPr>
            <a:r>
              <a:t>• Offline, lokale Speicherung</a:t>
            </a:r>
            <a:br/>
            <a:r>
              <a:t>• 6 Reviere / 6 Welten, Shop, Lexikon</a:t>
            </a:r>
            <a:br/>
            <a:r>
              <a:t>• GitHub Actions + Pages</a:t>
            </a:r>
            <a:br/>
            <a:r>
              <a:t>• Keine Cloud, keine Käufe</a:t>
            </a:r>
            <a:br/>
            <a:r>
              <a:t>• Nur Dev-Key, kein Play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212080" cy="4206240"/>
          </a:xfrm>
          <a:prstGeom prst="roundRect">
            <a:avLst>
              <a:gd name="adj" fmla="val 25000"/>
            </a:avLst>
          </a:prstGeom>
          <a:solidFill>
            <a:srgbClr val="0F2430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B84D"/>
                </a:solidFill>
              </a:defRPr>
            </a:pPr>
            <a:r>
              <a:t>🚀  V2 – Online (nächste Schritte)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EEF6FF"/>
                </a:solidFill>
              </a:defRPr>
            </a:pPr>
            <a:r>
              <a:t>• HTTPS-Backend, Auth, Datenschutz</a:t>
            </a:r>
            <a:br/>
            <a:r>
              <a:t>• Servergeprüfte Scores, keine lokalen Cheats</a:t>
            </a:r>
            <a:br/>
            <a:r>
              <a:t>• Globale Ranglisten, Events, Saisons</a:t>
            </a:r>
            <a:br/>
            <a:r>
              <a:t>• Live-KI nur server-seitig (Schlüssel nie im Client)</a:t>
            </a:r>
            <a:br/>
            <a:r>
              <a:t>• PWA + Play Store Release</a:t>
            </a:r>
            <a:br/>
            <a:r>
              <a:t>• Unabhängige Prüfung von KI-Aufgaben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537960"/>
            <a:ext cx="11064240" cy="411480"/>
          </a:xfrm>
          <a:prstGeom prst="roundRect">
            <a:avLst>
              <a:gd name="adj" fmla="val 15000"/>
            </a:avLst>
          </a:prstGeom>
          <a:solidFill>
            <a:srgbClr val="2D201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700" b="1">
                <a:solidFill>
                  <a:srgbClr val="FFB84D"/>
                </a:solidFill>
              </a:defRPr>
            </a:pPr>
            <a:r>
              <a:t>⚠️  Vor Online-Betrieb: Rate-Limits, Anti-Cheat, DSGVO-Konzept – nicht einfach lokale Punkte als vertrauenswürdig übernehmen!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800" b="0">
                <a:solidFill>
                  <a:srgbClr val="8AA8B8"/>
                </a:solidFill>
              </a:defRPr>
            </a:pPr>
            <a:r>
              <a:t>Priorität: Erst stabil offline → dann sicher online. Lieber langsam &amp; fair als schnell &amp; gehackt.</a:t>
            </a:r>
          </a:p>
        </p:txBody>
      </p:sp>
    </p:spTree>
  </p:cSld>
  <p:transition spd="med" advOnClk="1" advTm="0">
    <p:push dir="l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1371600"/>
            <a:ext cx="2103120" cy="64008"/>
          </a:xfrm>
          <a:prstGeom prst="rect">
            <a:avLst/>
          </a:prstGeom>
          <a:solidFill>
            <a:srgbClr val="4D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4800" b="1">
                <a:solidFill>
                  <a:srgbClr val="FFFFFF"/>
                </a:solidFill>
              </a:defRPr>
            </a:pPr>
            <a:r>
              <a:t>DANKE!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400" b="0">
                <a:solidFill>
                  <a:srgbClr val="2EE5A8"/>
                </a:solidFill>
              </a:defRPr>
            </a:pPr>
            <a:r>
              <a:t>Bereit zum Angeln? 🎣   Bereit zum Rechnen? 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0175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8AA8B8"/>
                </a:solidFill>
              </a:defRPr>
            </a:pPr>
            <a:r>
              <a:t>Zwei Spiele, ein Repo, volle GitHub-Power. Offline, fair, sofort spielbar – und bereit für die Zukunft.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023360"/>
            <a:ext cx="3246120" cy="12801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2062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4DE0FF"/>
                </a:solidFill>
              </a:defRPr>
            </a:pPr>
            <a:r>
              <a:t>🔗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8056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800" b="0">
                <a:solidFill>
                  <a:srgbClr val="FFFFFF"/>
                </a:solidFill>
              </a:defRPr>
            </a:pPr>
            <a:r>
              <a:t>github.com/felix-lab-maker/Jjj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006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PR #1 offen, gleich mergen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023360"/>
            <a:ext cx="3246120" cy="12801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2E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42062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2EE5A8"/>
                </a:solidFill>
              </a:defRPr>
            </a:pPr>
            <a:r>
              <a:t>🎣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48056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800" b="0">
                <a:solidFill>
                  <a:srgbClr val="FFFFFF"/>
                </a:solidFill>
              </a:defRPr>
            </a:pPr>
            <a:r>
              <a:t>felix-lab-maker.github.io/Jjj/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8006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Pages aktivieren → sofort spielen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023360"/>
            <a:ext cx="3246120" cy="1280160"/>
          </a:xfrm>
          <a:prstGeom prst="roundRect">
            <a:avLst>
              <a:gd name="adj" fmla="val 20000"/>
            </a:avLst>
          </a:prstGeom>
          <a:solidFill>
            <a:srgbClr val="0F2430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B84D"/>
                </a:solidFill>
              </a:defRPr>
            </a:pPr>
            <a:r>
              <a:t>📦 APKs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8056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800" b="0">
                <a:solidFill>
                  <a:srgbClr val="FFFFFF"/>
                </a:solidFill>
              </a:defRPr>
            </a:pPr>
            <a:r>
              <a:t>Actions →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006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Oder tag v1.0 → 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5577840"/>
            <a:ext cx="3931920" cy="548640"/>
          </a:xfrm>
          <a:prstGeom prst="roundRect">
            <a:avLst>
              <a:gd name="adj" fmla="val 25000"/>
            </a:avLst>
          </a:prstGeom>
          <a:solidFill>
            <a:srgbClr val="4DE0FF"/>
          </a:solidFill>
          <a:ln w="15240">
            <a:solidFill>
              <a:srgbClr val="4D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06141F"/>
                </a:solidFill>
              </a:defRPr>
            </a:pPr>
            <a:r>
              <a:t>Fragen?  →  Lass uns angeln gehen!  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00" b="0">
                <a:solidFill>
                  <a:srgbClr val="8AA8B8"/>
                </a:solidFill>
              </a:defRPr>
            </a:pPr>
            <a:r>
              <a:t>29. Okt 2026  •  Prototyp V1  •  Kontakt: GitHub Issues im Repo</a:t>
            </a:r>
          </a:p>
        </p:txBody>
      </p:sp>
    </p:spTree>
  </p:cSld>
  <p:transition spd="med" advOnClk="1" advTm="0">
    <p:fade thruBlk="1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